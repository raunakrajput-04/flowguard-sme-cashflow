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FINANCE, LAW &amp; BUSINESS (FLB) + AI/ML PROJECT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FlowGuard: SME Cash Flow Forecasting &amp; Working Capital Decision Support System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An intelligent decision-support system that predicts daily cash balances, detects liquidity crunches early, and provides actionable working capital solutions.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Presented by: Raunak Rajput | AIML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FLOWGUARD • FLB &amp; AI/ML ENGINEERING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Real-World Problem: Why Profitable SMEs Go Bankrupt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1. The Fatal Cash Paradox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82% of small and medium businesses (SMEs) fail due to cash flow mismanagement, NOT lack of sales.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Profit is on paper (accrual accounting), but salaries and rent must be paid with real bank cash.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 company can show ₹50 Lakhs in sales, but if clients haven't paid, the business cannot survive next month.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Key insight: 'Revenue is vanity, profit is sanity, but cash is king.'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2. The Timing Mismatch Nightmare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Accounts Receivable (Inflows): Clients take 30 to 60 days to pay their invoices, often with unexpected delays.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Accounts Payable (Outflows): Suppliers, payroll (28th of every month), rent, and taxes demand prompt settlement.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Result: A dangerous gap where bank balances drop close to zero without warning.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Goal of FlowGuard: Give managers a 30-to-90 day advance radar before cash dries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FLOWGUARD • FLB &amp; AI/ML ENGINEERING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Financial Terms Made Simple (FLB Concepts)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Working Capital &amp; Runway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Working Capital = Current Assets minus Current Liabilities.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It is the daily oxygen buffer of a company.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Current Ratio: Benchmark is &gt; 1.5x (measures short-term safety).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Cash Runway: Number of months the company can survive at its current monthly burn 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DSO &amp; DPO Cycles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DSO (Days Sales Outstanding): Average number of days customers take to pay you. Lower is better!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DPO (Days Payable Outstanding): Average number of days you take to pay suppliers.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DIO (Days Inventory Outstanding): Days items sit in warehouse before selling.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Cash Conversion Cycle (CCC)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Formula: CCC = DIO + DSO - DPO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 plain English: The number of days it takes for ₹1 spent on raw materials to come back into your bank account as cash.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Shorter CCC = Faster cash velocity and less need for bank loans!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FLOWGUARD • FLB &amp; AI/ML ENGINEERING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Why Traditional Excel &amp; Spreadsheets Fail for SMEs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Limitations of Excel Forecasting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Static Assumptions: Spreadsheets assume all clients pay exactly on the due date. In reality, they rarely do.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No Pattern Recognition: Excel cannot automatically detect that 'Client X always delays payments by 18 days in winter'.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Reactive, not Proactive: Business owners only see problems when a cheque bounces or payroll is tomorrow.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High manual effort: Easy to make formula mistakes in large multi-sheet workbooks.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How FlowGuard Solves This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Automated Daily Ledger: Integrates past invoices, payments, and expenses continuously.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Probabilistic Forecasting: Learns client behavior patterns and payment delays from historical data.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Uncertainty Bands: Displays 80% and 95% confidence intervals (Best case vs Worst case scenario).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Interactive What-If Testing: Recalculates cash runway in 0.2 seconds when sliders are moved.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FLOWGUARD • FLB &amp; AI/ML ENGINEERING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How FlowGuard's AI Works (Demystified in Plain English)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1. Learns Habits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Tracks historical customer payments over 2 years (730 days).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Identifies client reliability tiers (Tier A pays on time, Tier C delays 20+ days).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Considers day-of-week effects (B2B payments drop on weekends).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2. Tracks Calendar Clocks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Captures payroll cycles (fixed salaries disbursed every 28th).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Tracks rent on the 1st of every month.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Models quarterly corporate advance taxes (March, June, Sept, Dec 15th).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Accounts for festive quarter surges.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3. Multi-Step Forecast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Simultaneously forecasts daily Inflows (collections) and Outflows (expenses).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Computes Net Cash Flow = Inflow - Outflow.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Projects daily bank ending balance up to 90 days ahead with risk bands.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FLOWGUARD • FLB &amp; AI/ML ENGINEERING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Model Benchmarking: ML Regressors vs Statistical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Algorithms Evaluated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1. Baseline: Holt-Winters Exponential Smoothing (classical statistical benchmark).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2. Ridge Regression: Regularized linear model preventing overfitting on lag features.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3. Random Forest: Ensemble decision trees capturing non-linear interactions.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4. Gradient Boosting (GBM): Sequentially trained decision trees optimizing prediction residuals.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Validation Results &amp; Metrics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Evaluated on a 60-day holdout validation dataset.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Metrics Used: MAE (Mean Absolute Error), RMSE, and MAPE.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Key finding: Machine learning models with lag features (t-1, t-7, t-30) and payroll indicators outperformed classical baseline smoothing.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Why it matters: Eliminates unexpected cash surprises for CFOs and owners.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FLOWGUARD • FLB &amp; AI/ML ENGINEERING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Prescriptive Decision Support: 4 Actionable Financial Levers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Lever 1: Dynamic AR Discounting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Action: Offer 2% discount (e.g. 2/10 Net 30) to Tier-A clients.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Impact: Unlocks immediate cash collections within 5 days to avert deficit.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Lever 2: Vendor DPO Negotiation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Action: Request 14-day payment extension on raw materials.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Impact: Conserves outflow without hurting commercial supplier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Lever 3: Working Capital Credit Line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Action: Sizes the exact emergency credit line (Shortfall + 15% cushion).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Impact: Prevents taking expensive, unnecessary bank debt.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Lever 4: Idle Cash Yield Sweep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Action: If cash is surplus, sweep excess funds into overnight mutual funds.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Impact: Generates 6.8% risk-free annualized treasury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FLOWGUARD • FLB &amp; AI/ML ENGINEERING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Interactive 'What-If' Stress-Testing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Real-Time Managerial Testing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Business managers can test extreme scenarios with 1-click presets: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🚀 Aggressive Expansion: +25% Sales, 30% discount adoption.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⚠️ Client Payment Freeze: -15% Sales, +15 days payment delay.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🚨 Macro Recession Shock: -35% Sales, +25 days delay, -15% emergency OpEx cuts.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Instant Feedback: Recalculates projected cash balance curve and runway live.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Business Value of Stress Testing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Pre-Mortem Analysis: Test your business's survival BEFORE entering a crisis.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Bank Negotiation: Show lenders exact stress-tested cash flow forecasts to secure credit lines faster.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Confidence: Management knows exactly which cost-cutting levers save the company during a downturn.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FLOWGUARD • FLB &amp; AI/ML ENGINEERING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Engineering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Frontend &amp; UI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Streamlit Framework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Bloomberg / TradingView Executive Dark Theme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Plotly Interactive Fan Charts &amp; Gauges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Multi-Currency Toggle (INR, USD, EUR)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Intelligence Engine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Scikit-Learn (Gradient Boosting, Random Forest, Ridge)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Statsmodels (Holt-Winters Baseline)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Feature Engineering (Lags, rolling stats, Fourier seasonality)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Heuristic Prescriptive Rule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Data Pipeline &amp; Code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Realistic 730-day SME Transactional Ledger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Accounts Receivable &amp; Accounts Payable generator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Version Controlled on GitHub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1-Click Executive Report Export (.TXT)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Key Takeaways &amp; Conclusion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1. Bridges the Gap: Combines rigorous corporate finance (FLB) with practical machine learning (AIML).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2. Solves Real Problem: Protects SMEs from sudden liquidity death through 30-90 day advance radar.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3. Understandable AI: Avoids overly complex 'black-box' models; uses explainable time-series patterns and clear financial ratios.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4. Actionable: Doesn't just predict problems—provides 4 prescriptive financial solutions and stress-testing tools.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5. Fully Functional: Live interactive web app + open-source repository on GitHub.</a:t>
            </a:r>
          </a:p>
          <a:p>
            <a:br/>
            <a:pPr>
              <a:defRPr sz="2000" b="1">
                <a:solidFill>
                  <a:srgbClr val="38BDF8"/>
                </a:solidFill>
              </a:defRPr>
            </a:pPr>
            <a:r>
              <a:t>Thank You! Open for Questions &amp;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